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765" autoAdjust="0"/>
    <p:restoredTop sz="94660"/>
  </p:normalViewPr>
  <p:slideViewPr>
    <p:cSldViewPr snapToGrid="0">
      <p:cViewPr varScale="1">
        <p:scale>
          <a:sx n="82" d="100"/>
          <a:sy n="82" d="100"/>
        </p:scale>
        <p:origin x="6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1E77F-6FE7-45C3-B4DF-E199002F2F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7A0902-029E-4804-8E28-7BE478558A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D4CEF2-0DA9-4AAD-81A8-D1FE7EF0E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104FB-DFD0-48F6-A9C1-2DC34A3EF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C4B4-915F-4316-A857-CE6966B1F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596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2BD65-E39F-4470-8455-88518EBD8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7C033-BF28-44D1-B6E0-0993A337E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8FC7F-4B73-4ECA-B6AD-7BE2732D2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157D-B281-4E1C-944C-66A64B381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20DF0-261A-4E08-B20F-2F63CE5D1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060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F70FB-615F-4BA2-B6B7-C62142EB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82CEEC-4A43-476E-9821-1286039D7A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00DFD-8E23-4A75-AE77-BAF69AF86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8A75B-C220-45BC-9794-4C35BD07D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6433E4-3FA4-4CDA-8F43-884314FDA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25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D4436-A58C-49B2-8191-C9C04C63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60805-9C4D-478C-8528-56655879F8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17F750-061B-4154-87F7-FE3EAE4789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A0B2E8-61FE-46C4-85B9-356245D52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6A179-B9D5-45E9-8228-82EC88732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0A48DE-46A3-4926-884C-408152957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642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B075C-7200-4D31-9588-76E06C150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EEAA3-507B-4403-ACC7-D164C0198A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F6F5-695E-410F-ADCA-30760BF79D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AC3625-ABCB-46F9-A32D-8CD2E8B47F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9FA208-1E5A-407A-BD9E-44907EFDD5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29E0D-2E75-4729-BF2C-20917D31C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3F6023-59A1-4748-92A0-FEC654687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44D6E9-4DAE-4ECE-8B25-05AC25767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396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9058D-AB0B-4795-9503-9EE72EA23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6FD424-8AE4-4462-B038-2638B55BD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B2C7A5-D4B3-47F9-8E61-6FBA8BC17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2921D3-264B-4D97-B72B-56E87AE86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325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E74D65-2F2B-42DD-8720-FD62AE225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35E1FC-08CF-49BD-B7DC-3820EB7D1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7BCCB-D94F-46E9-8A15-B1A547F87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301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8641C-2D0F-4B3B-8CB2-46AB4C8C5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B3D03-052D-404E-A3C0-DE0EB580E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28E50-8743-449D-961F-DD1E77E2B8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E11D4-2DDC-4B5B-9BBB-E5E83DFD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3FF53B-2F0A-4DDF-A365-281254286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5ED129-6AC1-4822-9718-250812928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633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F1814-31DB-455A-997B-DC599C610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8182D7-4695-43C1-A2B1-228130C9C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141179-A7B0-443B-9270-99EB66AE8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D0F5F-0071-4891-B643-BA9D089C0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DBABAE-5F96-4AD9-BEC9-99CAD728E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B9BDC9-DCC0-4DDE-80A7-FA3D3027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275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16CA9-ABB7-4D6F-8011-32868A9D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3608CD-8D47-4259-81DD-9C943FE25A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4F4F3-8CD4-4960-B9DF-70697C1DC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685C7-8195-4003-827E-EB381CED4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5C85A-0EAF-4102-9925-CE52E2545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378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879D17-AEA1-479F-9A64-C5335D7845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CC58D4-B67E-4D74-A250-8B460384BF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E3D43E-7E14-4A77-AA72-0D187EBCC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7E7EEE-88EA-4674-BF01-BAF2AAF0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EDC2C-A93F-47B6-A9E8-1DFFAB7E5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306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038A25-7C0E-4FFD-8C73-8C67AA4F8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D2BC2-ED43-4690-820F-324BC65AD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5711-1CDE-4777-83F6-7EFD3C8EEA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EE68CF-25BC-4803-ABE6-3522B89FB9A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C324B-E099-4649-AC25-82A52ED248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C2DFA-F76E-4578-8456-943ED9DA5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DB50E-8B83-4041-9647-0AFD351C1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685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mailto:mdadalkhan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admin@admin.com" TargetMode="External"/><Relationship Id="rId2" Type="http://schemas.openxmlformats.org/officeDocument/2006/relationships/hyperlink" Target="http://localhost:given-port-name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62286-CE22-48D5-A565-07B1B84B3B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3424"/>
            <a:ext cx="9144000" cy="761028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Inter 18pt" panose="02000503000000020004" pitchFamily="2" charset="0"/>
                <a:ea typeface="Inter 18pt" panose="02000503000000020004" pitchFamily="2" charset="0"/>
                <a:cs typeface="Courier New" panose="02070309020205020404" pitchFamily="49" charset="0"/>
              </a:rPr>
              <a:t>BIAM Training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7676ED-2A43-44ED-BF8C-9C2DB8AA4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14669"/>
            <a:ext cx="9144000" cy="1853976"/>
          </a:xfrm>
        </p:spPr>
        <p:txBody>
          <a:bodyPr/>
          <a:lstStyle/>
          <a:p>
            <a:r>
              <a:rPr lang="en-US" b="1" dirty="0">
                <a:latin typeface="Inter 18pt" panose="02000503000000020004" pitchFamily="2" charset="0"/>
                <a:ea typeface="Inter 18pt" panose="02000503000000020004" pitchFamily="2" charset="0"/>
              </a:rPr>
              <a:t>Reverse Engineering</a:t>
            </a:r>
          </a:p>
          <a:p>
            <a:r>
              <a:rPr lang="en-US" dirty="0">
                <a:latin typeface="Inter 18pt" panose="02000503000000020004" pitchFamily="2" charset="0"/>
                <a:ea typeface="Inter 18pt" panose="02000503000000020004" pitchFamily="2" charset="0"/>
              </a:rPr>
              <a:t>Author: Md. Adal Khan</a:t>
            </a:r>
          </a:p>
          <a:p>
            <a:r>
              <a:rPr lang="en-US" dirty="0">
                <a:latin typeface="Inter 18pt" panose="02000503000000020004" pitchFamily="2" charset="0"/>
                <a:ea typeface="Inter 18pt" panose="02000503000000020004" pitchFamily="2" charset="0"/>
              </a:rPr>
              <a:t>Email: </a:t>
            </a:r>
            <a:r>
              <a:rPr lang="en-US" dirty="0">
                <a:latin typeface="Inter 18pt" panose="02000503000000020004" pitchFamily="2" charset="0"/>
                <a:ea typeface="Inter 18pt" panose="02000503000000020004" pitchFamily="2" charset="0"/>
                <a:hlinkClick r:id="rId2"/>
              </a:rPr>
              <a:t>mdadalkhan@gmail.com</a:t>
            </a:r>
            <a:endParaRPr lang="en-US" dirty="0">
              <a:latin typeface="Inter 18pt" panose="02000503000000020004" pitchFamily="2" charset="0"/>
              <a:ea typeface="Inter 18pt" panose="02000503000000020004" pitchFamily="2" charset="0"/>
            </a:endParaRPr>
          </a:p>
          <a:p>
            <a:r>
              <a:rPr lang="en-US" dirty="0">
                <a:latin typeface="Inter 18pt" panose="02000503000000020004" pitchFamily="2" charset="0"/>
                <a:ea typeface="Inter 18pt" panose="02000503000000020004" pitchFamily="2" charset="0"/>
              </a:rPr>
              <a:t>Last Update: 08/01/2026</a:t>
            </a:r>
          </a:p>
          <a:p>
            <a:endParaRPr lang="en-US" dirty="0">
              <a:latin typeface="Inter 18pt" panose="02000503000000020004" pitchFamily="2" charset="0"/>
              <a:ea typeface="Inter 18pt" panose="02000503000000020004" pitchFamily="2" charset="0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C31744-7309-4936-9401-B93BB49067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1843" y="372754"/>
            <a:ext cx="1685925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145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E7676ED-2A43-44ED-BF8C-9C2DB8AA4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63684"/>
            <a:ext cx="9144000" cy="1853976"/>
          </a:xfrm>
        </p:spPr>
        <p:txBody>
          <a:bodyPr/>
          <a:lstStyle/>
          <a:p>
            <a:endParaRPr lang="en-US" dirty="0">
              <a:latin typeface="Agave Nerd Font" panose="020B0509030604020203" pitchFamily="49" charset="0"/>
            </a:endParaRP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0758A6-7A6E-4569-8223-C583D7C0F171}"/>
              </a:ext>
            </a:extLst>
          </p:cNvPr>
          <p:cNvSpPr txBox="1"/>
          <p:nvPr/>
        </p:nvSpPr>
        <p:spPr>
          <a:xfrm>
            <a:off x="377952" y="269631"/>
            <a:ext cx="11558016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Inter 18pt" panose="02000503000000020004" pitchFamily="2" charset="0"/>
                <a:ea typeface="Inter 18pt" panose="02000503000000020004" pitchFamily="2" charset="0"/>
              </a:rPr>
              <a:t>Introduction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Ø"/>
            </a:pPr>
            <a:r>
              <a:rPr lang="en-US" sz="2000" dirty="0">
                <a:latin typeface="Inter 18pt" panose="02000503000000020004" pitchFamily="2" charset="0"/>
                <a:ea typeface="Inter 18pt" panose="02000503000000020004" pitchFamily="2" charset="0"/>
              </a:rPr>
              <a:t>BIAM TMS is a training management software. Originally developed by </a:t>
            </a:r>
            <a:r>
              <a:rPr lang="en-US" sz="2000" dirty="0" err="1">
                <a:latin typeface="Inter 18pt" panose="02000503000000020004" pitchFamily="2" charset="0"/>
                <a:ea typeface="Inter 18pt" panose="02000503000000020004" pitchFamily="2" charset="0"/>
              </a:rPr>
              <a:t>inflack</a:t>
            </a:r>
            <a:r>
              <a:rPr lang="en-US" sz="2000" dirty="0">
                <a:latin typeface="Inter 18pt" panose="02000503000000020004" pitchFamily="2" charset="0"/>
                <a:ea typeface="Inter 18pt" panose="02000503000000020004" pitchFamily="2" charset="0"/>
              </a:rPr>
              <a:t> limited.</a:t>
            </a:r>
          </a:p>
          <a:p>
            <a:endParaRPr lang="en-US" sz="2000" dirty="0">
              <a:latin typeface="Inter 18pt" panose="02000503000000020004" pitchFamily="2" charset="0"/>
              <a:ea typeface="Inter 18pt" panose="02000503000000020004" pitchFamily="2" charset="0"/>
            </a:endParaRPr>
          </a:p>
          <a:p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Note: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This is a legacy project developed using Laravel 8.The frontend UI is built using the Blade templating engine, jQuery, and other jQuery-based plugins. The database engine is not a concern, as Laravel Eloquent ORM handles all database interactions; therefore, no database changes are required for the existing project.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endParaRPr lang="en-US" sz="1600" dirty="0">
              <a:latin typeface="Inter 18pt" panose="02000503000000020004" pitchFamily="2" charset="0"/>
              <a:ea typeface="Inter 18pt" panose="02000503000000020004" pitchFamily="2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Installation Instruction: install php8.1, MySQL 8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Execute following commands/Instruction:</a:t>
            </a:r>
          </a:p>
          <a:p>
            <a:pPr>
              <a:buClr>
                <a:srgbClr val="00B050"/>
              </a:buClr>
            </a:pP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        01. create database biam_tms</a:t>
            </a:r>
          </a:p>
          <a:p>
            <a:pPr>
              <a:buClr>
                <a:srgbClr val="00B050"/>
              </a:buClr>
            </a:pP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        02. edit .env file. Set database password and database name</a:t>
            </a:r>
          </a:p>
          <a:p>
            <a:pPr>
              <a:buClr>
                <a:srgbClr val="00B050"/>
              </a:buClr>
            </a:pP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        03. open project folder.</a:t>
            </a:r>
          </a:p>
          <a:p>
            <a:pPr>
              <a:buClr>
                <a:srgbClr val="00B050"/>
              </a:buClr>
            </a:pP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        04. </a:t>
            </a:r>
            <a:r>
              <a:rPr lang="en-US" sz="1600" b="1" dirty="0">
                <a:latin typeface="Inter 18pt" panose="02000503000000020004" pitchFamily="2" charset="0"/>
                <a:ea typeface="Inter 18pt" panose="02000503000000020004" pitchFamily="2" charset="0"/>
              </a:rPr>
              <a:t>php artisan migrate</a:t>
            </a: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 </a:t>
            </a:r>
          </a:p>
          <a:p>
            <a:pPr>
              <a:buClr>
                <a:srgbClr val="00B050"/>
              </a:buClr>
            </a:pP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        05. </a:t>
            </a:r>
            <a:r>
              <a:rPr lang="en-US" sz="1600" b="1" dirty="0">
                <a:latin typeface="Inter 18pt" panose="02000503000000020004" pitchFamily="2" charset="0"/>
                <a:ea typeface="Inter 18pt" panose="02000503000000020004" pitchFamily="2" charset="0"/>
              </a:rPr>
              <a:t>php artisan db:seed</a:t>
            </a:r>
          </a:p>
          <a:p>
            <a:pPr>
              <a:buClr>
                <a:srgbClr val="00B050"/>
              </a:buClr>
            </a:pPr>
            <a:r>
              <a:rPr lang="en-US" sz="1600" b="1" dirty="0">
                <a:latin typeface="Inter 18pt" panose="02000503000000020004" pitchFamily="2" charset="0"/>
                <a:ea typeface="Inter 18pt" panose="02000503000000020004" pitchFamily="2" charset="0"/>
              </a:rPr>
              <a:t>         </a:t>
            </a: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06. Setup email server to get OTP or try using phone.</a:t>
            </a:r>
          </a:p>
          <a:p>
            <a:pPr>
              <a:buClr>
                <a:srgbClr val="00B050"/>
              </a:buClr>
            </a:pPr>
            <a:r>
              <a:rPr lang="en-US" sz="1600" b="1" dirty="0">
                <a:latin typeface="Inter 18pt" panose="02000503000000020004" pitchFamily="2" charset="0"/>
                <a:ea typeface="Inter 18pt" panose="02000503000000020004" pitchFamily="2" charset="0"/>
              </a:rPr>
              <a:t>         </a:t>
            </a: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07. php artisan server =&gt; go to browser and open </a:t>
            </a: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  <a:hlinkClick r:id="rId2"/>
              </a:rPr>
              <a:t>http://localhost:given-port-name</a:t>
            </a:r>
            <a:endParaRPr lang="en-US" sz="1600" dirty="0">
              <a:latin typeface="Inter 18pt" panose="02000503000000020004" pitchFamily="2" charset="0"/>
              <a:ea typeface="Inter 18pt" panose="02000503000000020004" pitchFamily="2" charset="0"/>
            </a:endParaRPr>
          </a:p>
          <a:p>
            <a:pPr>
              <a:buClr>
                <a:srgbClr val="00B050"/>
              </a:buClr>
            </a:pP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        08. Super Admin: </a:t>
            </a: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  <a:hlinkClick r:id="rId3"/>
              </a:rPr>
              <a:t>admin@admin.com</a:t>
            </a: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 with password: </a:t>
            </a:r>
            <a:r>
              <a:rPr lang="en-US" sz="1600" b="1" dirty="0">
                <a:latin typeface="Inter 18pt" panose="02000503000000020004" pitchFamily="2" charset="0"/>
                <a:ea typeface="Inter 18pt" panose="02000503000000020004" pitchFamily="2" charset="0"/>
              </a:rPr>
              <a:t>12341234</a:t>
            </a:r>
          </a:p>
          <a:p>
            <a:pPr>
              <a:buClr>
                <a:srgbClr val="00B050"/>
              </a:buClr>
            </a:pPr>
            <a:r>
              <a:rPr lang="en-US" sz="1600" b="1" dirty="0">
                <a:latin typeface="Inter 18pt" panose="02000503000000020004" pitchFamily="2" charset="0"/>
                <a:ea typeface="Inter 18pt" panose="02000503000000020004" pitchFamily="2" charset="0"/>
              </a:rPr>
              <a:t>         </a:t>
            </a:r>
            <a:r>
              <a:rPr lang="en-US" sz="1600" dirty="0">
                <a:latin typeface="Inter 18pt" panose="02000503000000020004" pitchFamily="2" charset="0"/>
                <a:ea typeface="Inter 18pt" panose="02000503000000020004" pitchFamily="2" charset="0"/>
              </a:rPr>
              <a:t>09. Ready</a:t>
            </a:r>
            <a:r>
              <a:rPr lang="en-US" sz="1600" b="1" dirty="0">
                <a:latin typeface="Inter 18pt" panose="02000503000000020004" pitchFamily="2" charset="0"/>
                <a:ea typeface="Inter 18pt" panose="02000503000000020004" pitchFamily="2" charset="0"/>
              </a:rPr>
              <a:t> </a:t>
            </a:r>
          </a:p>
          <a:p>
            <a:pPr>
              <a:buClr>
                <a:srgbClr val="00B050"/>
              </a:buClr>
            </a:pPr>
            <a:endParaRPr lang="en-US" sz="1400" dirty="0">
              <a:latin typeface="Inter 18pt" panose="02000503000000020004" pitchFamily="2" charset="0"/>
              <a:ea typeface="Inter 18pt" panose="02000503000000020004" pitchFamily="2" charset="0"/>
            </a:endParaRPr>
          </a:p>
          <a:p>
            <a:pPr>
              <a:buClr>
                <a:srgbClr val="00B050"/>
              </a:buClr>
            </a:pPr>
            <a:r>
              <a:rPr lang="en-US" sz="1400" dirty="0">
                <a:latin typeface="Inter 18pt" panose="02000503000000020004" pitchFamily="2" charset="0"/>
                <a:ea typeface="Inter 18pt" panose="02000503000000020004" pitchFamily="2" charset="0"/>
              </a:rPr>
              <a:t>        </a:t>
            </a:r>
          </a:p>
        </p:txBody>
      </p:sp>
    </p:spTree>
    <p:extLst>
      <p:ext uri="{BB962C8B-B14F-4D97-AF65-F5344CB8AC3E}">
        <p14:creationId xmlns:p14="http://schemas.microsoft.com/office/powerpoint/2010/main" val="271285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372381-96C0-4419-9EC4-4A735B375A0E}"/>
              </a:ext>
            </a:extLst>
          </p:cNvPr>
          <p:cNvSpPr txBox="1"/>
          <p:nvPr/>
        </p:nvSpPr>
        <p:spPr>
          <a:xfrm>
            <a:off x="363415" y="363416"/>
            <a:ext cx="2388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Lato" panose="020F0502020204030203" pitchFamily="34" charset="0"/>
              </a:rPr>
              <a:t>Initial Authentication:</a:t>
            </a:r>
          </a:p>
        </p:txBody>
      </p:sp>
    </p:spTree>
    <p:extLst>
      <p:ext uri="{BB962C8B-B14F-4D97-AF65-F5344CB8AC3E}">
        <p14:creationId xmlns:p14="http://schemas.microsoft.com/office/powerpoint/2010/main" val="3726822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208</Words>
  <Application>Microsoft Office PowerPoint</Application>
  <PresentationFormat>Widescreen</PresentationFormat>
  <Paragraphs>25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Agave Nerd Font</vt:lpstr>
      <vt:lpstr>Arial</vt:lpstr>
      <vt:lpstr>Calibri</vt:lpstr>
      <vt:lpstr>Calibri Light</vt:lpstr>
      <vt:lpstr>Inter 18pt</vt:lpstr>
      <vt:lpstr>Lato</vt:lpstr>
      <vt:lpstr>Wingdings</vt:lpstr>
      <vt:lpstr>Office Theme</vt:lpstr>
      <vt:lpstr>BIAM Training Management System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BIAM Training Management System</dc:title>
  <dc:creator>BIAM</dc:creator>
  <cp:lastModifiedBy>BIAM</cp:lastModifiedBy>
  <cp:revision>34</cp:revision>
  <dcterms:created xsi:type="dcterms:W3CDTF">2026-01-08T09:13:22Z</dcterms:created>
  <dcterms:modified xsi:type="dcterms:W3CDTF">2026-01-08T10:09:27Z</dcterms:modified>
</cp:coreProperties>
</file>