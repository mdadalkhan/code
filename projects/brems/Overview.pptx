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64139-24CE-43D7-A2F5-A66219BB5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9822C8-E44D-4586-9A76-FD48151C76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E3014-53C4-41A3-9DC0-9114B60C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7DDC-5D11-4CF9-AD28-01332F84F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3B7CA-9A13-4734-AAA6-DFFE070FF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263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4CC8-C6C3-4166-BD68-DBE0C0C1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2240-B5C5-4672-8E0D-675B7BD64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49207-8E72-414D-BC01-F11819485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94F6-6C14-4AEA-98DF-875933DE7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A4AE5-E543-4C5A-8B91-3CCEED8F1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824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97E63-FF6C-49E9-A6B5-4CA0F9FEF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F795C-8A63-44F3-A1B8-9B25889F1A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0A12D-C88A-4344-85C5-1EC56233E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0902-FFC2-4646-ADB6-2E03FBDC5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79CD-A762-46DB-A08D-9A52A87C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406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7FA6-F89C-451F-AD51-8AD94F57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66002-93B9-4273-8093-159CF53CCF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0B66F-5986-4CF5-9944-BA60407F4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40E8A-6147-400B-A4A2-855517040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32953-9153-41B3-A8A3-A74E8A236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03D80-3CB0-48A8-9EC9-C7B1CE7C9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233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3A81-BDB8-466C-BB95-4448EEC05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44740-DCD6-48D2-B252-50EF9457D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02B93-1C19-4F12-8BC8-3274BAA44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FBE56-B545-41C2-A45B-87D9E3DCA1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FDF088-A9CE-4ADC-9A07-A6C719A975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6C65D1-E1A8-4044-9806-8087EAD6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99E8D8-E2F9-4C78-BC35-DD05AA307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F66520-8A82-4F7A-8898-4AC571B5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817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1F1DA-2B3E-4173-AD69-1A5D6C756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89378B-9BEB-4522-A4E1-8DD5B6BEB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F98902-05B0-4472-AB38-DA7E0C0F7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25AD-ED10-4835-9A98-2E6FD8527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04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A7769A-4ECD-4180-89C7-93C771495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B56BC6-979D-4A56-8E98-7936F64E7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A0B78-CD03-43FA-BEA8-20CC402AA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35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2E7EF-4E54-43E9-85DE-01A47F69D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A7E76-4359-4757-A2B9-476472048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2A6461-564F-4278-80F5-A35C863CB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B7400-2053-44FD-BC88-4FC3930EF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EFA72-5F53-490A-9DD7-45AD7CCBF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2F842-4E19-42D3-AB33-8634E39C9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524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3D4E2-C33B-4CD3-B46D-5916E2407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AA9BB-D766-4ADB-936C-D924FB8568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4D79E9-5FF7-4849-ABBF-07BC55F98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281A00-335E-421A-A05D-704F826DA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4A5BF-43FF-45C8-B118-7FA65F047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2965F-4889-40A1-88C8-E6741BE9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669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7680F-5290-43DA-91BB-DE9275A9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875FBC-BB49-4679-8EBF-3F138F724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FA129-9A20-477F-811F-5AA175B86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60CC7-5CBC-44C9-B785-468E27F8B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8EFC8-5DB1-4359-BF18-3D7DC2019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677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211DBB-BDD8-4DDF-A29D-C6C50A6E61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C53425-2B8E-41AD-A874-CFF3B24A4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9CADA-AF9C-4753-9CE2-FA4367039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0B7CC-3BA8-42C6-BF9F-530638CF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45518-7BA3-49E0-9D80-D20BAA07F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04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EB3C54-73A1-4E6F-93C6-31952155C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342FE-075D-4656-919E-F8CA39B86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66CDF1-9DCB-4BE8-A733-3F2EED505C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5682CF-FAD7-4BD3-8747-1696A45B068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56DD4-3CAD-4D05-8818-33CD95D1F2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BE85D-4262-46FA-A92F-CDE6840D8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076B43-2D9F-4DD2-99C9-DA274452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56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A13F-BDB2-463F-AD4F-E473D7289A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46663"/>
            <a:ext cx="9144000" cy="549322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Inter 18pt" panose="02000503000000020004" pitchFamily="2" charset="0"/>
                <a:ea typeface="Inter 18pt" panose="02000503000000020004" pitchFamily="2" charset="0"/>
              </a:rPr>
              <a:t>BIAM Recruitment Exam Management System.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DA50DD5-9AA5-4C2A-9CB3-F99082D4CE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18845"/>
              </p:ext>
            </p:extLst>
          </p:nvPr>
        </p:nvGraphicFramePr>
        <p:xfrm>
          <a:off x="2028966" y="3058023"/>
          <a:ext cx="7892956" cy="1483360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3621207">
                  <a:extLst>
                    <a:ext uri="{9D8B030D-6E8A-4147-A177-3AD203B41FA5}">
                      <a16:colId xmlns:a16="http://schemas.microsoft.com/office/drawing/2014/main" val="2837055047"/>
                    </a:ext>
                  </a:extLst>
                </a:gridCol>
                <a:gridCol w="4271749">
                  <a:extLst>
                    <a:ext uri="{9D8B030D-6E8A-4147-A177-3AD203B41FA5}">
                      <a16:colId xmlns:a16="http://schemas.microsoft.com/office/drawing/2014/main" val="24450879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Concept/Designer/Author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877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Typing Engine: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Md. </a:t>
                      </a:r>
                      <a:r>
                        <a:rPr lang="en-US" dirty="0" err="1"/>
                        <a:t>Basedul</a:t>
                      </a:r>
                      <a:r>
                        <a:rPr lang="en-US" dirty="0"/>
                        <a:t> Islam, AP, BIAM Foundation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737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Svelte5 + Inertia.js implementation: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Md. Adal Khan, CO, BIAM Foundation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7606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Backend Development: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Md. Adal Khan, CO, BIAM Foundation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606852"/>
                  </a:ext>
                </a:extLst>
              </a:tr>
            </a:tbl>
          </a:graphicData>
        </a:graphic>
      </p:graphicFrame>
      <p:pic>
        <p:nvPicPr>
          <p:cNvPr id="1028" name="Picture 4" descr="BIAM Foundation | Dhaka">
            <a:extLst>
              <a:ext uri="{FF2B5EF4-FFF2-40B4-BE49-F238E27FC236}">
                <a16:creationId xmlns:a16="http://schemas.microsoft.com/office/drawing/2014/main" id="{887CC4B7-4439-4C86-992A-CDE7CEA8F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6603" y="251465"/>
            <a:ext cx="1316084" cy="1140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1858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675496" cy="56292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Inter 18pt" panose="02000503000000020004" pitchFamily="2" charset="0"/>
                <a:ea typeface="Inter 18pt" panose="02000503000000020004" pitchFamily="2" charset="0"/>
              </a:rPr>
              <a:t>Authentication System: (Admin)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016E83-5E27-4687-BAAD-31A2F7354F1F}"/>
              </a:ext>
            </a:extLst>
          </p:cNvPr>
          <p:cNvSpPr txBox="1"/>
          <p:nvPr/>
        </p:nvSpPr>
        <p:spPr>
          <a:xfrm>
            <a:off x="968991" y="1064525"/>
            <a:ext cx="3202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application uses traditional </a:t>
            </a:r>
          </a:p>
        </p:txBody>
      </p:sp>
    </p:spTree>
    <p:extLst>
      <p:ext uri="{BB962C8B-B14F-4D97-AF65-F5344CB8AC3E}">
        <p14:creationId xmlns:p14="http://schemas.microsoft.com/office/powerpoint/2010/main" val="2400317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675496" cy="56292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 Narrow" panose="020B0606020202030204" pitchFamily="34" charset="0"/>
                <a:ea typeface="Inter 18pt" panose="02000503000000020004" pitchFamily="2" charset="0"/>
              </a:rPr>
              <a:t>Data Flow: Table Name: admins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52E62-169B-40FE-99EE-FA34609481B3}"/>
              </a:ext>
            </a:extLst>
          </p:cNvPr>
          <p:cNvSpPr txBox="1"/>
          <p:nvPr/>
        </p:nvSpPr>
        <p:spPr>
          <a:xfrm>
            <a:off x="736979" y="1105468"/>
            <a:ext cx="4833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>
                <a:latin typeface="Arial Narrow" panose="020B0606020202030204" pitchFamily="34" charset="0"/>
              </a:rPr>
              <a:t>Authentication should use this table.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>
                <a:latin typeface="Arial Narrow" panose="020B0606020202030204" pitchFamily="34" charset="0"/>
              </a:rPr>
              <a:t>This table has no more job to handle authentication.</a:t>
            </a:r>
          </a:p>
        </p:txBody>
      </p:sp>
      <p:graphicFrame>
        <p:nvGraphicFramePr>
          <p:cNvPr id="21" name="Table 4">
            <a:extLst>
              <a:ext uri="{FF2B5EF4-FFF2-40B4-BE49-F238E27FC236}">
                <a16:creationId xmlns:a16="http://schemas.microsoft.com/office/drawing/2014/main" id="{7CCB55E1-4BFC-4D21-8423-CB24C70E5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431845"/>
              </p:ext>
            </p:extLst>
          </p:nvPr>
        </p:nvGraphicFramePr>
        <p:xfrm>
          <a:off x="1009825" y="1946526"/>
          <a:ext cx="9539895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7979">
                  <a:extLst>
                    <a:ext uri="{9D8B030D-6E8A-4147-A177-3AD203B41FA5}">
                      <a16:colId xmlns:a16="http://schemas.microsoft.com/office/drawing/2014/main" val="3754981159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3021474219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3981111130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3706363297"/>
                    </a:ext>
                  </a:extLst>
                </a:gridCol>
                <a:gridCol w="1907979">
                  <a:extLst>
                    <a:ext uri="{9D8B030D-6E8A-4147-A177-3AD203B41FA5}">
                      <a16:colId xmlns:a16="http://schemas.microsoft.com/office/drawing/2014/main" val="2694398640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admins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42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email_verified_at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/>
                        <a:t>Remember_token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16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String (Hash)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String (Hash)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84311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5ED8CB2-C536-456F-919E-A544DD05C08A}"/>
              </a:ext>
            </a:extLst>
          </p:cNvPr>
          <p:cNvSpPr/>
          <p:nvPr/>
        </p:nvSpPr>
        <p:spPr>
          <a:xfrm>
            <a:off x="1725306" y="4314155"/>
            <a:ext cx="1815152" cy="562970"/>
          </a:xfrm>
          <a:prstGeom prst="rect">
            <a:avLst/>
          </a:prstGeom>
          <a:solidFill>
            <a:schemeClr val="accent1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rial Narrow" panose="020B0606020202030204" pitchFamily="34" charset="0"/>
              </a:rPr>
              <a:t>Login Request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DA3C9E-DBB4-4A0A-8A04-8B28B60153F0}"/>
              </a:ext>
            </a:extLst>
          </p:cNvPr>
          <p:cNvSpPr/>
          <p:nvPr/>
        </p:nvSpPr>
        <p:spPr>
          <a:xfrm>
            <a:off x="4852918" y="3798955"/>
            <a:ext cx="1815152" cy="136476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rial Narrow" panose="020B0606020202030204" pitchFamily="34" charset="0"/>
              </a:rPr>
              <a:t>Login Controller </a:t>
            </a:r>
          </a:p>
          <a:p>
            <a:pPr algn="ctr"/>
            <a:r>
              <a:rPr lang="en-US" dirty="0">
                <a:latin typeface="Arial Narrow" panose="020B0606020202030204" pitchFamily="34" charset="0"/>
              </a:rPr>
              <a:t>(Verify Authentication)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EA9BD7-2059-441C-BABE-27763F22C38E}"/>
              </a:ext>
            </a:extLst>
          </p:cNvPr>
          <p:cNvCxnSpPr/>
          <p:nvPr/>
        </p:nvCxnSpPr>
        <p:spPr>
          <a:xfrm>
            <a:off x="3671248" y="4549579"/>
            <a:ext cx="1050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ylinder 16">
            <a:extLst>
              <a:ext uri="{FF2B5EF4-FFF2-40B4-BE49-F238E27FC236}">
                <a16:creationId xmlns:a16="http://schemas.microsoft.com/office/drawing/2014/main" id="{31839A88-EAA4-4412-A558-702D11BA7F9C}"/>
              </a:ext>
            </a:extLst>
          </p:cNvPr>
          <p:cNvSpPr/>
          <p:nvPr/>
        </p:nvSpPr>
        <p:spPr>
          <a:xfrm>
            <a:off x="7703471" y="4112849"/>
            <a:ext cx="554117" cy="736976"/>
          </a:xfrm>
          <a:prstGeom prst="can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Arial Narrow" panose="020B0606020202030204" pitchFamily="34" charset="0"/>
              </a:rPr>
              <a:t>db</a:t>
            </a:r>
            <a:endParaRPr lang="en-US" dirty="0">
              <a:latin typeface="Arial Narrow" panose="020B060602020203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42D3F4C-267F-4012-91C3-35526E670FD2}"/>
              </a:ext>
            </a:extLst>
          </p:cNvPr>
          <p:cNvCxnSpPr/>
          <p:nvPr/>
        </p:nvCxnSpPr>
        <p:spPr>
          <a:xfrm>
            <a:off x="6782828" y="4481337"/>
            <a:ext cx="79168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120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19447" cy="740343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Inter 18pt" panose="02000503000000020004" pitchFamily="2" charset="0"/>
                <a:ea typeface="Inter 18pt" panose="02000503000000020004" pitchFamily="2" charset="0"/>
              </a:rPr>
              <a:t>Table Name: exam </a:t>
            </a:r>
            <a:br>
              <a:rPr lang="en-US" sz="1800" dirty="0">
                <a:latin typeface="Inter 18pt" panose="02000503000000020004" pitchFamily="2" charset="0"/>
                <a:ea typeface="Inter 18pt" panose="02000503000000020004" pitchFamily="2" charset="0"/>
              </a:rPr>
            </a:br>
            <a:r>
              <a:rPr lang="en-US" sz="1800" dirty="0">
                <a:latin typeface="Inter 18pt" panose="02000503000000020004" pitchFamily="2" charset="0"/>
                <a:ea typeface="Inter 18pt" panose="02000503000000020004" pitchFamily="2" charset="0"/>
              </a:rPr>
              <a:t>Role: admin (Read, Write </a:t>
            </a:r>
            <a:r>
              <a:rPr lang="en-US" sz="1800">
                <a:latin typeface="Inter 18pt" panose="02000503000000020004" pitchFamily="2" charset="0"/>
                <a:ea typeface="Inter 18pt" panose="02000503000000020004" pitchFamily="2" charset="0"/>
              </a:rPr>
              <a:t>and Execute)</a:t>
            </a:r>
            <a:endParaRPr lang="en-US" sz="1800" dirty="0">
              <a:latin typeface="Inter 18pt" panose="02000503000000020004" pitchFamily="2" charset="0"/>
              <a:ea typeface="Inter 18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52E62-169B-40FE-99EE-FA34609481B3}"/>
              </a:ext>
            </a:extLst>
          </p:cNvPr>
          <p:cNvSpPr txBox="1"/>
          <p:nvPr/>
        </p:nvSpPr>
        <p:spPr>
          <a:xfrm>
            <a:off x="736979" y="1105468"/>
            <a:ext cx="41896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This table holds all active exam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Activate the Exam based on </a:t>
            </a:r>
            <a:r>
              <a:rPr lang="en-US" b="1" dirty="0" err="1"/>
              <a:t>exam_code</a:t>
            </a:r>
            <a:endParaRPr lang="en-US" b="1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6A7EBC5E-CB05-48C8-A145-AF84126CE8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018884"/>
              </p:ext>
            </p:extLst>
          </p:nvPr>
        </p:nvGraphicFramePr>
        <p:xfrm>
          <a:off x="1122261" y="1845811"/>
          <a:ext cx="8158216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7357">
                  <a:extLst>
                    <a:ext uri="{9D8B030D-6E8A-4147-A177-3AD203B41FA5}">
                      <a16:colId xmlns:a16="http://schemas.microsoft.com/office/drawing/2014/main" val="1752901856"/>
                    </a:ext>
                  </a:extLst>
                </a:gridCol>
                <a:gridCol w="682388">
                  <a:extLst>
                    <a:ext uri="{9D8B030D-6E8A-4147-A177-3AD203B41FA5}">
                      <a16:colId xmlns:a16="http://schemas.microsoft.com/office/drawing/2014/main" val="3265588655"/>
                    </a:ext>
                  </a:extLst>
                </a:gridCol>
                <a:gridCol w="1296537">
                  <a:extLst>
                    <a:ext uri="{9D8B030D-6E8A-4147-A177-3AD203B41FA5}">
                      <a16:colId xmlns:a16="http://schemas.microsoft.com/office/drawing/2014/main" val="1560994664"/>
                    </a:ext>
                  </a:extLst>
                </a:gridCol>
                <a:gridCol w="1146412">
                  <a:extLst>
                    <a:ext uri="{9D8B030D-6E8A-4147-A177-3AD203B41FA5}">
                      <a16:colId xmlns:a16="http://schemas.microsoft.com/office/drawing/2014/main" val="2032673277"/>
                    </a:ext>
                  </a:extLst>
                </a:gridCol>
                <a:gridCol w="846161">
                  <a:extLst>
                    <a:ext uri="{9D8B030D-6E8A-4147-A177-3AD203B41FA5}">
                      <a16:colId xmlns:a16="http://schemas.microsoft.com/office/drawing/2014/main" val="1899846387"/>
                    </a:ext>
                  </a:extLst>
                </a:gridCol>
                <a:gridCol w="1228299">
                  <a:extLst>
                    <a:ext uri="{9D8B030D-6E8A-4147-A177-3AD203B41FA5}">
                      <a16:colId xmlns:a16="http://schemas.microsoft.com/office/drawing/2014/main" val="1262195415"/>
                    </a:ext>
                  </a:extLst>
                </a:gridCol>
                <a:gridCol w="1105468">
                  <a:extLst>
                    <a:ext uri="{9D8B030D-6E8A-4147-A177-3AD203B41FA5}">
                      <a16:colId xmlns:a16="http://schemas.microsoft.com/office/drawing/2014/main" val="1273112999"/>
                    </a:ext>
                  </a:extLst>
                </a:gridCol>
                <a:gridCol w="1255594">
                  <a:extLst>
                    <a:ext uri="{9D8B030D-6E8A-4147-A177-3AD203B41FA5}">
                      <a16:colId xmlns:a16="http://schemas.microsoft.com/office/drawing/2014/main" val="2114150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Org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/>
                        <a:t>exam_code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36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yes/no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51361"/>
                  </a:ext>
                </a:extLst>
              </a:tr>
            </a:tbl>
          </a:graphicData>
        </a:graphic>
      </p:graphicFrame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68DB06AF-98CA-432E-9E7C-AE77F5306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8496920"/>
              </p:ext>
            </p:extLst>
          </p:nvPr>
        </p:nvGraphicFramePr>
        <p:xfrm>
          <a:off x="3806205" y="3000288"/>
          <a:ext cx="547427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68568">
                  <a:extLst>
                    <a:ext uri="{9D8B030D-6E8A-4147-A177-3AD203B41FA5}">
                      <a16:colId xmlns:a16="http://schemas.microsoft.com/office/drawing/2014/main" val="3754981159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3021474219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3981111130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144905556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42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exam_code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16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8431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1281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9ADD-977C-4ADD-9B84-E4273B158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675496" cy="56292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Inter 18pt" panose="02000503000000020004" pitchFamily="2" charset="0"/>
                <a:ea typeface="Inter 18pt" panose="02000503000000020004" pitchFamily="2" charset="0"/>
              </a:rPr>
              <a:t>Data Flow: Table Name: Users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D3F557-1748-4A3A-A3C9-7B5B51721494}"/>
              </a:ext>
            </a:extLst>
          </p:cNvPr>
          <p:cNvSpPr txBox="1"/>
          <p:nvPr/>
        </p:nvSpPr>
        <p:spPr>
          <a:xfrm>
            <a:off x="838201" y="928048"/>
            <a:ext cx="58880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User doesn’t required login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dirty="0"/>
              <a:t>Instead they should only verify phone, roll and exam code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EC66469-58A9-4818-B073-A7A5384E74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572500"/>
              </p:ext>
            </p:extLst>
          </p:nvPr>
        </p:nvGraphicFramePr>
        <p:xfrm>
          <a:off x="994769" y="1823403"/>
          <a:ext cx="5474272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68568">
                  <a:extLst>
                    <a:ext uri="{9D8B030D-6E8A-4147-A177-3AD203B41FA5}">
                      <a16:colId xmlns:a16="http://schemas.microsoft.com/office/drawing/2014/main" val="3754981159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3021474219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3981111130"/>
                    </a:ext>
                  </a:extLst>
                </a:gridCol>
                <a:gridCol w="1368568">
                  <a:extLst>
                    <a:ext uri="{9D8B030D-6E8A-4147-A177-3AD203B41FA5}">
                      <a16:colId xmlns:a16="http://schemas.microsoft.com/office/drawing/2014/main" val="144905556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42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exam_code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0160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8431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8192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199</Words>
  <Application>Microsoft Office PowerPoint</Application>
  <PresentationFormat>Widescreen</PresentationFormat>
  <Paragraphs>69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Arial Narrow</vt:lpstr>
      <vt:lpstr>Calibri</vt:lpstr>
      <vt:lpstr>Calibri Light</vt:lpstr>
      <vt:lpstr>Inter 18pt</vt:lpstr>
      <vt:lpstr>Wingdings</vt:lpstr>
      <vt:lpstr>Office Theme</vt:lpstr>
      <vt:lpstr>BIAM Recruitment Exam Management System.</vt:lpstr>
      <vt:lpstr>Authentication System: (Admin)</vt:lpstr>
      <vt:lpstr>Data Flow: Table Name: admins</vt:lpstr>
      <vt:lpstr>Table Name: exam  Role: admin (Read, Write and Execute)</vt:lpstr>
      <vt:lpstr>Data Flow: Table Name: Users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BIAM Recruitment Exam</dc:title>
  <dc:creator>BIAM</dc:creator>
  <cp:lastModifiedBy>BIAM</cp:lastModifiedBy>
  <cp:revision>55</cp:revision>
  <dcterms:created xsi:type="dcterms:W3CDTF">2026-01-11T08:37:07Z</dcterms:created>
  <dcterms:modified xsi:type="dcterms:W3CDTF">2026-01-18T11:10:27Z</dcterms:modified>
</cp:coreProperties>
</file>